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evads" id="{1a26ba1f-1f24-02cf-ba20-800d81422918}">
          <p14:sldIdLst>
            <p14:sldId id="256"/>
            <p14:sldId id="257"/>
            <p14:sldId id="258"/>
          </p14:sldIdLst>
        </p14:section>
        <p14:section name="Process" id="{cac39f3c-dadf-20e1-950d-4d59a1094025}">
          <p14:sldIdLst>
            <p14:sldId id="259"/>
            <p14:sldId id="260"/>
            <p14:sldId id="261"/>
          </p14:sldIdLst>
        </p14:section>
        <p14:section name="Rezultāts" id="{b3652cb1-b7a2-2995-4f86-9dbe4094e99e}">
          <p14:sldIdLst>
            <p14:sldId id="262"/>
            <p14:sldId id="263"/>
            <p14:sldId id="264"/>
          </p14:sldIdLst>
        </p14:section>
        <p14:section name="Pieejamība" id="{7c6032b3-1702-ae61-d8ab-1a81baf94a78}">
          <p14:sldIdLst>
            <p14:sldId id="265"/>
            <p14:sldId id="266"/>
          </p14:sldIdLst>
        </p14:section>
        <p14:section name="MI riski" id="{b8601013-d5fb-629d-f7d7-80d55bf56acd}">
          <p14:sldIdLst>
            <p14:sldId id="267"/>
            <p14:sldId id="268"/>
          </p14:sldIdLst>
        </p14:section>
        <p14:section name="Secinājumi" id="{95ef4683-e5c6-473c-288c-c5a323eb78e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Prezentācija par to, kā no kursa backloga tika izveidota pašvaldības iesniegumu sistēma, pārbaudīta pieejamība un klasificēti MI riski. Visi dati ir izdomāti.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Galvenais: viss MUST un SHOULD apjoms izpildīts un notestēts. Svarīgākais atradums — axe neatrada nevienu problēmu, bet protokola pārbaudes atrada četras.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Kursa backlogs: MUST US-1–US-6, SHOULD US-7–US-9, COULD US-10–US-14, US-15 tikai dizainam. Izvēlētais apjoms: MUST + SHOULD + US-14 reflow.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Iedzīvotāja ceļš tika būvēts pirmais, jo to izmanto manuālajā pieejamības testā. MI klasifikācija (2. solis) notika pirms ai.py rakstīšanas — tas ir redzams git vēsturē.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iesniegumi mapē nosaka noteikumus, ko Claude ievēro: bez JS ietvariem, WCAG 2.2 AA, MI marķējums, US-15 neimplementēt.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Šis dalījums ir ierakstīts docs/process.md un ievērots atskaitēs: NVDA tests ir atzīmēts kā neveikts, nevis kā izpildīts.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Šis ir ceļš, ko manuālais pieejamības tests iet cauri. Tastatūras scenārijs to izgāja 6 no 6 soļiem.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US-7 līgums ieteikums(apraksts) -&gt; {tema, atbildes_projekts} nemainās neatkarīgi no tā, vai strādā imitācija vai Claude. Visi četri pasākumi ir pārbaudīti testos.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Krāsa pārbaudīta ar dataviz validatoru; sākotnējā zīmola krāsa #176a82 bija pārāk pelēcīga datu zīmei.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Svarīgākā mācība par pieejamību: zaļš axe nenozīmē piekļūstamu lapu. Pēc labojumiem abas pārbaudes ir zaļas.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Labojumi ir commitos 0a94862 un 62e7aa8. Atradums 2 ir būtiskākais: darbinieks bez redzes nezinātu, vai statusa maiņa izdevās.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Termiņi pēc Omnibusa: caurspīdīgums no 02.08.2026, III pielikuma augsta riska sistēmas no 02.12.2027. Klasifikācija ir melnraksts — juridiskos secinājumus apstiprina jurists.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 atrodas tests/test_iesn_mi.py (HARD_CASES). Ar Claude API rezultāts būtu cits — tas nav pārbaudīts, jo nebija atslēgas.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stundu ierobežojums netika ievērots: process ar testiem un atskaitēm prasa vairāk laika, bet rezultāts ir pārbaudāms. Paldies!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workspaces-pareizais1410/930f732c-54e8-46d9-870b-fe830ad33e85/scratchpad/deck/img/ez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3E">
              <a:alpha val="75000"/>
            </a:srgbClr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9776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</a:rPr>
              <a:t>Iesniegumi · Ezermalas novada pašvaldība (mācību projekts)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Iesniegumi: no backloga līdz pārbaudītai sistēmai</a:t>
            </a:r>
            <a:endParaRPr lang="en-US" sz="4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9776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Pašvaldības iesniegumu sistēma ar Claude Code · process, pieejamība, MI riski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Ezermalas novada pašvaldība (izdomāta) · 14.10.2026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Rezultāts skaitļos</a:t>
            </a:r>
            <a:endParaRPr lang="en-US" sz="3400" dirty="0"/>
          </a:p>
        </p:txBody>
      </p:sp>
      <p:sp>
        <p:nvSpPr>
          <p:cNvPr id="3" name="karte-1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ksts-2"/>
          <p:cNvSpPr txBox="1"/>
          <p:nvPr/>
        </p:nvSpPr>
        <p:spPr>
          <a:xfrm>
            <a:off x="82296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5" name="teksts-3"/>
          <p:cNvSpPr txBox="1"/>
          <p:nvPr/>
        </p:nvSpPr>
        <p:spPr>
          <a:xfrm>
            <a:off x="82296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ekrāni, 3 lomas</a:t>
            </a:r>
            <a:endParaRPr lang="en-US" sz="1500" dirty="0"/>
          </a:p>
        </p:txBody>
      </p:sp>
      <p:sp>
        <p:nvSpPr>
          <p:cNvPr id="6" name="karte-4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teksts-5"/>
          <p:cNvSpPr txBox="1"/>
          <p:nvPr/>
        </p:nvSpPr>
        <p:spPr>
          <a:xfrm>
            <a:off x="457200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8" name="teksts-6"/>
          <p:cNvSpPr txBox="1"/>
          <p:nvPr/>
        </p:nvSpPr>
        <p:spPr>
          <a:xfrm>
            <a:off x="457200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lietotāja stāsti izpildīti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(MUST + SHOULD + US-14)</a:t>
            </a:r>
            <a:endParaRPr lang="en-US" sz="1500" dirty="0"/>
          </a:p>
        </p:txBody>
      </p:sp>
      <p:sp>
        <p:nvSpPr>
          <p:cNvPr id="9" name="karte-7"/>
          <p:cNvSpPr/>
          <p:nvPr/>
        </p:nvSpPr>
        <p:spPr>
          <a:xfrm>
            <a:off x="804672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teksts-8"/>
          <p:cNvSpPr txBox="1"/>
          <p:nvPr/>
        </p:nvSpPr>
        <p:spPr>
          <a:xfrm>
            <a:off x="832104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5400" dirty="0"/>
          </a:p>
        </p:txBody>
      </p:sp>
      <p:sp>
        <p:nvSpPr>
          <p:cNvPr id="11" name="teksts-9"/>
          <p:cNvSpPr txBox="1"/>
          <p:nvPr/>
        </p:nvSpPr>
        <p:spPr>
          <a:xfrm>
            <a:off x="8321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automātiskie testi</a:t>
            </a:r>
            <a:endParaRPr lang="en-US" sz="1500" dirty="0"/>
          </a:p>
        </p:txBody>
      </p:sp>
      <p:sp>
        <p:nvSpPr>
          <p:cNvPr id="12" name="karte-10"/>
          <p:cNvSpPr/>
          <p:nvPr/>
        </p:nvSpPr>
        <p:spPr>
          <a:xfrm>
            <a:off x="54864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ksts-11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4" name="teksts-12"/>
          <p:cNvSpPr txBox="1"/>
          <p:nvPr/>
        </p:nvSpPr>
        <p:spPr>
          <a:xfrm>
            <a:off x="82296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axe pārkāpumu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14 lapās un stāvokļos</a:t>
            </a:r>
            <a:endParaRPr lang="en-US" sz="1500" dirty="0"/>
          </a:p>
        </p:txBody>
      </p:sp>
      <p:sp>
        <p:nvSpPr>
          <p:cNvPr id="15" name="karte-13"/>
          <p:cNvSpPr/>
          <p:nvPr/>
        </p:nvSpPr>
        <p:spPr>
          <a:xfrm>
            <a:off x="429768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teksts-14"/>
          <p:cNvSpPr txBox="1"/>
          <p:nvPr/>
        </p:nvSpPr>
        <p:spPr>
          <a:xfrm>
            <a:off x="457200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7" name="teksts-15"/>
          <p:cNvSpPr txBox="1"/>
          <p:nvPr/>
        </p:nvSpPr>
        <p:spPr>
          <a:xfrm>
            <a:off x="457200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pieejamības problēmas,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 axe neatrada — izlabotas</a:t>
            </a:r>
            <a:endParaRPr lang="en-US" sz="1500" dirty="0"/>
          </a:p>
        </p:txBody>
      </p:sp>
      <p:sp>
        <p:nvSpPr>
          <p:cNvPr id="18" name="karte-16"/>
          <p:cNvSpPr/>
          <p:nvPr/>
        </p:nvSpPr>
        <p:spPr>
          <a:xfrm>
            <a:off x="804672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teksts-17"/>
          <p:cNvSpPr txBox="1"/>
          <p:nvPr/>
        </p:nvSpPr>
        <p:spPr>
          <a:xfrm>
            <a:off x="832104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teksts-18"/>
          <p:cNvSpPr txBox="1"/>
          <p:nvPr/>
        </p:nvSpPr>
        <p:spPr>
          <a:xfrm>
            <a:off x="832104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 komponenti klasificēti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pirms būvēšanas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Uzdevums: e-pasta kastes vietā — sistēma</a:t>
            </a:r>
            <a:endParaRPr lang="en-US" sz="3400" dirty="0"/>
          </a:p>
        </p:txBody>
      </p:sp>
      <p:sp>
        <p:nvSpPr>
          <p:cNvPr id="3" name="karte-19"/>
          <p:cNvSpPr/>
          <p:nvPr/>
        </p:nvSpPr>
        <p:spPr>
          <a:xfrm>
            <a:off x="548640" y="141732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ksts-20"/>
          <p:cNvSpPr txBox="1"/>
          <p:nvPr/>
        </p:nvSpPr>
        <p:spPr>
          <a:xfrm>
            <a:off x="8229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Scenārijs</a:t>
            </a:r>
            <a:endParaRPr lang="en-US" sz="2000" dirty="0"/>
          </a:p>
        </p:txBody>
      </p:sp>
      <p:sp>
        <p:nvSpPr>
          <p:cNvPr id="5" name="saraksts-21"/>
          <p:cNvSpPr txBox="1"/>
          <p:nvPr/>
        </p:nvSpPr>
        <p:spPr>
          <a:xfrm>
            <a:off x="822960" y="224028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Bedres, apgaismojums, atkritumi, bērnudārza rinda, sociālā palīdzība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Trīs lomas: iedzīvotājs, darbinieks, vadītājs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Iestādes vietne → MK 445, EN 301 549</a:t>
            </a:r>
            <a:endParaRPr lang="en-US" sz="1500" dirty="0"/>
          </a:p>
        </p:txBody>
      </p:sp>
      <p:sp>
        <p:nvSpPr>
          <p:cNvPr id="6" name="karte-22"/>
          <p:cNvSpPr/>
          <p:nvPr/>
        </p:nvSpPr>
        <p:spPr>
          <a:xfrm>
            <a:off x="4297680" y="141732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7" name="teksts-23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8 ekrāni</a:t>
            </a:r>
            <a:endParaRPr lang="en-US" sz="2000" dirty="0"/>
          </a:p>
        </p:txBody>
      </p:sp>
      <p:sp>
        <p:nvSpPr>
          <p:cNvPr id="8" name="saraksts-24"/>
          <p:cNvSpPr txBox="1"/>
          <p:nvPr/>
        </p:nvSpPr>
        <p:spPr>
          <a:xfrm>
            <a:off x="4572000" y="224028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Lomas izvēle · Iesnieguma forma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Apstiprinājums · Saraksts ar filtriem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Detaļas + MI ieteikums · Pārskats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Piekļūstamības paziņojums · Mans iesniegums</a:t>
            </a:r>
            <a:endParaRPr lang="en-US" sz="1500" dirty="0"/>
          </a:p>
        </p:txBody>
      </p:sp>
      <p:sp>
        <p:nvSpPr>
          <p:cNvPr id="9" name="karte-25"/>
          <p:cNvSpPr/>
          <p:nvPr/>
        </p:nvSpPr>
        <p:spPr>
          <a:xfrm>
            <a:off x="8046720" y="141732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teksts-26"/>
          <p:cNvSpPr txBox="1"/>
          <p:nvPr/>
        </p:nvSpPr>
        <p:spPr>
          <a:xfrm>
            <a:off x="83210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Tehnoloģijas</a:t>
            </a:r>
            <a:endParaRPr lang="en-US" sz="2000" dirty="0"/>
          </a:p>
        </p:txBody>
      </p:sp>
      <p:sp>
        <p:nvSpPr>
          <p:cNvPr id="11" name="saraksts-27"/>
          <p:cNvSpPr txBox="1"/>
          <p:nvPr/>
        </p:nvSpPr>
        <p:spPr>
          <a:xfrm>
            <a:off x="8321040" y="224028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3.12 · Flask · Jinja2 · SQLite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Servera HTML, bez JS ietvariem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pytest, Playwright + axe-core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Claude Code + CLAUDE.md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Secība: 8 soļi, katrs ar savu komitu</a:t>
            </a:r>
            <a:endParaRPr lang="en-US" sz="3400" dirty="0"/>
          </a:p>
        </p:txBody>
      </p:sp>
      <p:sp>
        <p:nvSpPr>
          <p:cNvPr id="3" name="aplis-28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r-29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ksts-30"/>
          <p:cNvSpPr txBox="1"/>
          <p:nvPr/>
        </p:nvSpPr>
        <p:spPr>
          <a:xfrm>
            <a:off x="118872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Prasības</a:t>
            </a:r>
            <a:endParaRPr lang="en-US" sz="1800" dirty="0"/>
          </a:p>
        </p:txBody>
      </p:sp>
      <p:sp>
        <p:nvSpPr>
          <p:cNvPr id="6" name="teksts-31"/>
          <p:cNvSpPr txBox="1"/>
          <p:nvPr/>
        </p:nvSpPr>
        <p:spPr>
          <a:xfrm>
            <a:off x="548640" y="21488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BACKLOG → kritēriji ar WCAG un MI akta atsaucēm</a:t>
            </a:r>
            <a:endParaRPr lang="en-US" sz="1400" dirty="0"/>
          </a:p>
        </p:txBody>
      </p:sp>
      <p:sp>
        <p:nvSpPr>
          <p:cNvPr id="7" name="bulta-32"/>
          <p:cNvSpPr/>
          <p:nvPr/>
        </p:nvSpPr>
        <p:spPr>
          <a:xfrm>
            <a:off x="3154680" y="160020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aplis-33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nr-34"/>
          <p:cNvSpPr txBox="1"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ksts-35"/>
          <p:cNvSpPr txBox="1"/>
          <p:nvPr/>
        </p:nvSpPr>
        <p:spPr>
          <a:xfrm>
            <a:off x="402336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 riski</a:t>
            </a:r>
            <a:endParaRPr lang="en-US" sz="1800" dirty="0"/>
          </a:p>
        </p:txBody>
      </p:sp>
      <p:sp>
        <p:nvSpPr>
          <p:cNvPr id="11" name="teksts-36"/>
          <p:cNvSpPr txBox="1"/>
          <p:nvPr/>
        </p:nvSpPr>
        <p:spPr>
          <a:xfrm>
            <a:off x="3383280" y="21488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US-7, US-10, US-15 klasificēti pirms koda</a:t>
            </a:r>
            <a:endParaRPr lang="en-US" sz="1400" dirty="0"/>
          </a:p>
        </p:txBody>
      </p:sp>
      <p:sp>
        <p:nvSpPr>
          <p:cNvPr id="12" name="bulta-37"/>
          <p:cNvSpPr/>
          <p:nvPr/>
        </p:nvSpPr>
        <p:spPr>
          <a:xfrm>
            <a:off x="5989320" y="160020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aplis-38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r-39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ksts-40"/>
          <p:cNvSpPr txBox="1"/>
          <p:nvPr/>
        </p:nvSpPr>
        <p:spPr>
          <a:xfrm>
            <a:off x="685800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S0 karkass</a:t>
            </a:r>
            <a:endParaRPr lang="en-US" sz="1800" dirty="0"/>
          </a:p>
        </p:txBody>
      </p:sp>
      <p:sp>
        <p:nvSpPr>
          <p:cNvPr id="16" name="teksts-41"/>
          <p:cNvSpPr txBox="1"/>
          <p:nvPr/>
        </p:nvSpPr>
        <p:spPr>
          <a:xfrm>
            <a:off x="6217920" y="21488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Shēma, 10 testa iesniegumi, a11y tests</a:t>
            </a:r>
            <a:endParaRPr lang="en-US" sz="1400" dirty="0"/>
          </a:p>
        </p:txBody>
      </p:sp>
      <p:sp>
        <p:nvSpPr>
          <p:cNvPr id="17" name="bulta-42"/>
          <p:cNvSpPr/>
          <p:nvPr/>
        </p:nvSpPr>
        <p:spPr>
          <a:xfrm>
            <a:off x="8823960" y="160020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aplis-43"/>
          <p:cNvSpPr/>
          <p:nvPr/>
        </p:nvSpPr>
        <p:spPr>
          <a:xfrm>
            <a:off x="90525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r-44"/>
          <p:cNvSpPr txBox="1"/>
          <p:nvPr/>
        </p:nvSpPr>
        <p:spPr>
          <a:xfrm>
            <a:off x="90525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ksts-45"/>
          <p:cNvSpPr txBox="1"/>
          <p:nvPr/>
        </p:nvSpPr>
        <p:spPr>
          <a:xfrm>
            <a:off x="969264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Iedzīvotājs</a:t>
            </a:r>
            <a:endParaRPr lang="en-US" sz="1800" dirty="0"/>
          </a:p>
        </p:txBody>
      </p:sp>
      <p:sp>
        <p:nvSpPr>
          <p:cNvPr id="21" name="teksts-46"/>
          <p:cNvSpPr txBox="1"/>
          <p:nvPr/>
        </p:nvSpPr>
        <p:spPr>
          <a:xfrm>
            <a:off x="9052560" y="21488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US-1 forma · US-2 apstiprinājums · US-8 statuss</a:t>
            </a:r>
            <a:endParaRPr lang="en-US" sz="1400" dirty="0"/>
          </a:p>
        </p:txBody>
      </p:sp>
      <p:sp>
        <p:nvSpPr>
          <p:cNvPr id="22" name="aplis-47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r-48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ksts-49"/>
          <p:cNvSpPr txBox="1"/>
          <p:nvPr/>
        </p:nvSpPr>
        <p:spPr>
          <a:xfrm>
            <a:off x="118872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Darbinieks</a:t>
            </a:r>
            <a:endParaRPr lang="en-US" sz="1800" dirty="0"/>
          </a:p>
        </p:txBody>
      </p:sp>
      <p:sp>
        <p:nvSpPr>
          <p:cNvPr id="25" name="teksts-50"/>
          <p:cNvSpPr txBox="1"/>
          <p:nvPr/>
        </p:nvSpPr>
        <p:spPr>
          <a:xfrm>
            <a:off x="548640" y="45262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US-3 saraksts · US-4 apstrāde · US-7 MI</a:t>
            </a:r>
            <a:endParaRPr lang="en-US" sz="1400" dirty="0"/>
          </a:p>
        </p:txBody>
      </p:sp>
      <p:sp>
        <p:nvSpPr>
          <p:cNvPr id="26" name="bulta-51"/>
          <p:cNvSpPr/>
          <p:nvPr/>
        </p:nvSpPr>
        <p:spPr>
          <a:xfrm>
            <a:off x="3154680" y="397764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7" name="aplis-52"/>
          <p:cNvSpPr/>
          <p:nvPr/>
        </p:nvSpPr>
        <p:spPr>
          <a:xfrm>
            <a:off x="338328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nr-53"/>
          <p:cNvSpPr txBox="1"/>
          <p:nvPr/>
        </p:nvSpPr>
        <p:spPr>
          <a:xfrm>
            <a:off x="33832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9" name="teksts-54"/>
          <p:cNvSpPr txBox="1"/>
          <p:nvPr/>
        </p:nvSpPr>
        <p:spPr>
          <a:xfrm>
            <a:off x="402336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Vadītājs</a:t>
            </a:r>
            <a:endParaRPr lang="en-US" sz="1800" dirty="0"/>
          </a:p>
        </p:txBody>
      </p:sp>
      <p:sp>
        <p:nvSpPr>
          <p:cNvPr id="30" name="teksts-55"/>
          <p:cNvSpPr txBox="1"/>
          <p:nvPr/>
        </p:nvSpPr>
        <p:spPr>
          <a:xfrm>
            <a:off x="3383280" y="45262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US-5 pārskats · US-6 paziņojums</a:t>
            </a:r>
            <a:endParaRPr lang="en-US" sz="1400" dirty="0"/>
          </a:p>
        </p:txBody>
      </p:sp>
      <p:sp>
        <p:nvSpPr>
          <p:cNvPr id="31" name="bulta-56"/>
          <p:cNvSpPr/>
          <p:nvPr/>
        </p:nvSpPr>
        <p:spPr>
          <a:xfrm>
            <a:off x="5989320" y="397764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aplis-57"/>
          <p:cNvSpPr/>
          <p:nvPr/>
        </p:nvSpPr>
        <p:spPr>
          <a:xfrm>
            <a:off x="621792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nr-58"/>
          <p:cNvSpPr txBox="1"/>
          <p:nvPr/>
        </p:nvSpPr>
        <p:spPr>
          <a:xfrm>
            <a:off x="6217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4" name="teksts-59"/>
          <p:cNvSpPr txBox="1"/>
          <p:nvPr/>
        </p:nvSpPr>
        <p:spPr>
          <a:xfrm>
            <a:off x="685800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Testēšana</a:t>
            </a:r>
            <a:endParaRPr lang="en-US" sz="1800" dirty="0"/>
          </a:p>
        </p:txBody>
      </p:sp>
      <p:sp>
        <p:nvSpPr>
          <p:cNvPr id="35" name="teksts-60"/>
          <p:cNvSpPr txBox="1"/>
          <p:nvPr/>
        </p:nvSpPr>
        <p:spPr>
          <a:xfrm>
            <a:off x="6217920" y="45262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axe + protokols → 4 atradumi → labojumi</a:t>
            </a:r>
            <a:endParaRPr lang="en-US" sz="1400" dirty="0"/>
          </a:p>
        </p:txBody>
      </p:sp>
      <p:sp>
        <p:nvSpPr>
          <p:cNvPr id="36" name="bulta-61"/>
          <p:cNvSpPr/>
          <p:nvPr/>
        </p:nvSpPr>
        <p:spPr>
          <a:xfrm>
            <a:off x="8823960" y="3977640"/>
            <a:ext cx="182880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7" name="aplis-62"/>
          <p:cNvSpPr/>
          <p:nvPr/>
        </p:nvSpPr>
        <p:spPr>
          <a:xfrm>
            <a:off x="905256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nr-63"/>
          <p:cNvSpPr txBox="1"/>
          <p:nvPr/>
        </p:nvSpPr>
        <p:spPr>
          <a:xfrm>
            <a:off x="90525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9" name="teksts-64"/>
          <p:cNvSpPr txBox="1"/>
          <p:nvPr/>
        </p:nvSpPr>
        <p:spPr>
          <a:xfrm>
            <a:off x="9692640" y="3886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Atskaites</a:t>
            </a:r>
            <a:endParaRPr lang="en-US" sz="1800" dirty="0"/>
          </a:p>
        </p:txBody>
      </p:sp>
      <p:sp>
        <p:nvSpPr>
          <p:cNvPr id="40" name="teksts-65"/>
          <p:cNvSpPr txBox="1"/>
          <p:nvPr/>
        </p:nvSpPr>
        <p:spPr>
          <a:xfrm>
            <a:off x="9052560" y="45262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Pieejamība, MI risks, prezentācija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Katra lietotāja stāsta cikls</a:t>
            </a:r>
            <a:endParaRPr lang="en-US" sz="3400" dirty="0"/>
          </a:p>
        </p:txBody>
      </p:sp>
      <p:sp>
        <p:nvSpPr>
          <p:cNvPr id="3" name="cikls-66"/>
          <p:cNvSpPr/>
          <p:nvPr/>
        </p:nvSpPr>
        <p:spPr>
          <a:xfrm>
            <a:off x="548640" y="1554480"/>
            <a:ext cx="1920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4" name="teksts-67"/>
          <p:cNvSpPr txBox="1"/>
          <p:nvPr/>
        </p:nvSpPr>
        <p:spPr>
          <a:xfrm>
            <a:off x="640080" y="1600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Kritēriji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prasibas.md</a:t>
            </a:r>
            <a:endParaRPr lang="en-US" sz="1500" dirty="0"/>
          </a:p>
        </p:txBody>
      </p:sp>
      <p:sp>
        <p:nvSpPr>
          <p:cNvPr id="5" name="bulta-68"/>
          <p:cNvSpPr/>
          <p:nvPr/>
        </p:nvSpPr>
        <p:spPr>
          <a:xfrm>
            <a:off x="2514600" y="201168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cikls-69"/>
          <p:cNvSpPr/>
          <p:nvPr/>
        </p:nvSpPr>
        <p:spPr>
          <a:xfrm>
            <a:off x="2834640" y="1554480"/>
            <a:ext cx="1920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7" name="teksts-70"/>
          <p:cNvSpPr txBox="1"/>
          <p:nvPr/>
        </p:nvSpPr>
        <p:spPr>
          <a:xfrm>
            <a:off x="2926080" y="1600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Kods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Flask + Jinja2</a:t>
            </a:r>
            <a:endParaRPr lang="en-US" sz="1500" dirty="0"/>
          </a:p>
        </p:txBody>
      </p:sp>
      <p:sp>
        <p:nvSpPr>
          <p:cNvPr id="8" name="bulta-71"/>
          <p:cNvSpPr/>
          <p:nvPr/>
        </p:nvSpPr>
        <p:spPr>
          <a:xfrm>
            <a:off x="4800600" y="201168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cikls-72"/>
          <p:cNvSpPr/>
          <p:nvPr/>
        </p:nvSpPr>
        <p:spPr>
          <a:xfrm>
            <a:off x="5120640" y="1554480"/>
            <a:ext cx="1920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0" name="teksts-73"/>
          <p:cNvSpPr txBox="1"/>
          <p:nvPr/>
        </p:nvSpPr>
        <p:spPr>
          <a:xfrm>
            <a:off x="5212080" y="1600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pytest</a:t>
            </a:r>
            <a:endParaRPr lang="en-US" sz="1500" dirty="0"/>
          </a:p>
        </p:txBody>
      </p:sp>
      <p:sp>
        <p:nvSpPr>
          <p:cNvPr id="11" name="bulta-74"/>
          <p:cNvSpPr/>
          <p:nvPr/>
        </p:nvSpPr>
        <p:spPr>
          <a:xfrm>
            <a:off x="7086600" y="201168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cikls-75"/>
          <p:cNvSpPr/>
          <p:nvPr/>
        </p:nvSpPr>
        <p:spPr>
          <a:xfrm>
            <a:off x="7406640" y="1554480"/>
            <a:ext cx="1920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/>
        </p:spPr>
      </p:sp>
      <p:sp>
        <p:nvSpPr>
          <p:cNvPr id="13" name="teksts-76"/>
          <p:cNvSpPr txBox="1"/>
          <p:nvPr/>
        </p:nvSpPr>
        <p:spPr>
          <a:xfrm>
            <a:off x="7498080" y="1600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Pieejamība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make a11y</a:t>
            </a:r>
            <a:endParaRPr lang="en-US" sz="1500" dirty="0"/>
          </a:p>
        </p:txBody>
      </p:sp>
      <p:sp>
        <p:nvSpPr>
          <p:cNvPr id="14" name="bulta-77"/>
          <p:cNvSpPr/>
          <p:nvPr/>
        </p:nvSpPr>
        <p:spPr>
          <a:xfrm>
            <a:off x="9372600" y="201168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cikls-78"/>
          <p:cNvSpPr/>
          <p:nvPr/>
        </p:nvSpPr>
        <p:spPr>
          <a:xfrm>
            <a:off x="9692640" y="1554480"/>
            <a:ext cx="1920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6" name="teksts-79"/>
          <p:cNvSpPr txBox="1"/>
          <p:nvPr/>
        </p:nvSpPr>
        <p:spPr>
          <a:xfrm>
            <a:off x="9784080" y="16002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Statuss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+ komits US-x</a:t>
            </a:r>
            <a:endParaRPr lang="en-US" sz="1500" dirty="0"/>
          </a:p>
        </p:txBody>
      </p:sp>
      <p:sp>
        <p:nvSpPr>
          <p:cNvPr id="17" name="karte-80"/>
          <p:cNvSpPr/>
          <p:nvPr/>
        </p:nvSpPr>
        <p:spPr>
          <a:xfrm>
            <a:off x="548640" y="3154680"/>
            <a:ext cx="110642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8" name="teksts-81"/>
          <p:cNvSpPr txBox="1"/>
          <p:nvPr/>
        </p:nvSpPr>
        <p:spPr>
          <a:xfrm>
            <a:off x="82296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Definition of Done</a:t>
            </a:r>
            <a:endParaRPr lang="en-US" sz="2000" dirty="0"/>
          </a:p>
        </p:txBody>
      </p:sp>
      <p:sp>
        <p:nvSpPr>
          <p:cNvPr id="19" name="saraksts-82"/>
          <p:cNvSpPr txBox="1"/>
          <p:nvPr/>
        </p:nvSpPr>
        <p:spPr>
          <a:xfrm>
            <a:off x="822960" y="38862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Visi kritēriji atzīmēti kā izpildīti, katram ir automātisks tests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Lapa strādā bez JavaScript (JS tikai uzlabo, piem., fokuss uz kļūdām)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make a11y: 0 critical/serious, 320 px bez ritināšanas</a:t>
            </a:r>
            <a:endParaRPr lang="en-US" sz="1600" dirty="0"/>
          </a:p>
        </p:txBody>
      </p:sp>
      <p:sp>
        <p:nvSpPr>
          <p:cNvPr id="20" name="saraksts-83"/>
          <p:cNvSpPr txBox="1"/>
          <p:nvPr/>
        </p:nvSpPr>
        <p:spPr>
          <a:xfrm>
            <a:off x="6217920" y="38862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Kļūdas saka, kā labot; teksti latviski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Personas dati netiek žurnalēti; dati sintētiski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Komits ar US-ID; CLAUDE.md noteikumi ievēroti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Darba dalījums: Claude dara, cilvēks atbild</a:t>
            </a:r>
            <a:endParaRPr lang="en-US" sz="3400" dirty="0"/>
          </a:p>
        </p:txBody>
      </p:sp>
      <p:graphicFrame>
        <p:nvGraphicFramePr>
          <p:cNvPr id="7" name="tabula-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Darbs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Kas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Prasību kritēriji, kods, testi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Claude · cilvēks pārskata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Automātiskās pieejamības pārbaudes un labojumi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Claude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 riska klasifikācijas melnraksts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Claude · secinājumus apstiprina jurists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Ekrānlasītāja (NVDA) tests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Tikai cilvēks — nav veikts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Paziņojuma apstiprināšana, atbildība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Tikai cilvēks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ksts-85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«Ko Claude NEVAR izdarīt jūsu vietā: pārbaudīt ar ekrānlasītāju, novērtēt, vai kļūdu ziņa ir saprotama cilvēkam, un uzņemties atbildību paziņojumā.» — kursa materiāls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Iedzīvotājs: kļūdas skaidras, numurs uzreiz</a:t>
            </a:r>
            <a:endParaRPr lang="en-US" sz="3400" dirty="0"/>
          </a:p>
        </p:txBody>
      </p:sp>
      <p:sp>
        <p:nvSpPr>
          <p:cNvPr id="3" name="ramis-86"/>
          <p:cNvSpPr/>
          <p:nvPr/>
        </p:nvSpPr>
        <p:spPr>
          <a:xfrm>
            <a:off x="548640" y="1417320"/>
            <a:ext cx="5852160" cy="4141946"/>
          </a:xfrm>
          <a:prstGeom prst="roundRect">
            <a:avLst>
              <a:gd name="adj" fmla="val 1766"/>
            </a:avLst>
          </a:prstGeom>
          <a:solidFill>
            <a:srgbClr val="D7E3E7"/>
          </a:solidFill>
          <a:ln/>
        </p:spPr>
      </p:sp>
      <p:pic>
        <p:nvPicPr>
          <p:cNvPr id="4" name="attels-87" descr="Iesnieguma forma ar kļūdu kopsavilkumu un kļūdām pie lauki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760720" cy="4050506"/>
          </a:xfrm>
          <a:prstGeom prst="rect">
            <a:avLst/>
          </a:prstGeom>
        </p:spPr>
      </p:pic>
      <p:sp>
        <p:nvSpPr>
          <p:cNvPr id="5" name="teksts-88"/>
          <p:cNvSpPr txBox="1"/>
          <p:nvPr/>
        </p:nvSpPr>
        <p:spPr>
          <a:xfrm>
            <a:off x="67665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Forma ar kļūdām (US-1)</a:t>
            </a:r>
            <a:endParaRPr lang="en-US" sz="1800" dirty="0"/>
          </a:p>
        </p:txBody>
      </p:sp>
      <p:sp>
        <p:nvSpPr>
          <p:cNvPr id="6" name="saraksts-89"/>
          <p:cNvSpPr txBox="1"/>
          <p:nvPr/>
        </p:nvSpPr>
        <p:spPr>
          <a:xfrm>
            <a:off x="6766560" y="19659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Kopsavilkums ar saitēm uz laukiem, fokuss uz 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Kļūda pie lauka saka, kā labot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Obligātums tekstā «(obligāts)», ne krāsā</a:t>
            </a:r>
            <a:endParaRPr lang="en-US" sz="1500" dirty="0"/>
          </a:p>
        </p:txBody>
      </p:sp>
      <p:sp>
        <p:nvSpPr>
          <p:cNvPr id="7" name="teksts-90"/>
          <p:cNvSpPr txBox="1"/>
          <p:nvPr/>
        </p:nvSpPr>
        <p:spPr>
          <a:xfrm>
            <a:off x="67665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Apstiprinājums un statuss</a:t>
            </a:r>
            <a:endParaRPr lang="en-US" sz="1800" dirty="0"/>
          </a:p>
        </p:txBody>
      </p:sp>
      <p:sp>
        <p:nvSpPr>
          <p:cNvPr id="8" name="saraksts-91"/>
          <p:cNvSpPr txBox="1"/>
          <p:nvPr/>
        </p:nvSpPr>
        <p:spPr>
          <a:xfrm>
            <a:off x="676656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 → redirect: F5 nedublē iesniegumu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Nosaukums «Iesniegums reģistrēts: 2026-0011»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Statuss pēc numura, bez CAPTCHA un personas datiem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Darbinieks: MI iesaka, cilvēks izlemj</a:t>
            </a:r>
            <a:endParaRPr lang="en-US" sz="3400" dirty="0"/>
          </a:p>
        </p:txBody>
      </p:sp>
      <p:sp>
        <p:nvSpPr>
          <p:cNvPr id="3" name="ramis-92"/>
          <p:cNvSpPr/>
          <p:nvPr/>
        </p:nvSpPr>
        <p:spPr>
          <a:xfrm>
            <a:off x="548640" y="1371600"/>
            <a:ext cx="4251960" cy="4932772"/>
          </a:xfrm>
          <a:prstGeom prst="roundRect">
            <a:avLst>
              <a:gd name="adj" fmla="val 1720"/>
            </a:avLst>
          </a:prstGeom>
          <a:solidFill>
            <a:srgbClr val="D7E3E7"/>
          </a:solidFill>
          <a:ln/>
        </p:spPr>
      </p:sp>
      <p:pic>
        <p:nvPicPr>
          <p:cNvPr id="4" name="attels-93" descr="Iesnieguma detaļas ar MI ieteikuma blo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4160520" cy="4841332"/>
          </a:xfrm>
          <a:prstGeom prst="rect">
            <a:avLst/>
          </a:prstGeom>
        </p:spPr>
      </p:pic>
      <p:sp>
        <p:nvSpPr>
          <p:cNvPr id="5" name="karte-94"/>
          <p:cNvSpPr/>
          <p:nvPr/>
        </p:nvSpPr>
        <p:spPr>
          <a:xfrm>
            <a:off x="5212080" y="1463040"/>
            <a:ext cx="6400800" cy="1024128"/>
          </a:xfrm>
          <a:prstGeom prst="roundRect">
            <a:avLst>
              <a:gd name="adj" fmla="val 10714"/>
            </a:avLst>
          </a:prstGeom>
          <a:solidFill>
            <a:srgbClr val="F3EDFA"/>
          </a:solidFill>
          <a:ln/>
        </p:spPr>
      </p:sp>
      <p:sp>
        <p:nvSpPr>
          <p:cNvPr id="6" name="teksts-95"/>
          <p:cNvSpPr txBox="1"/>
          <p:nvPr/>
        </p:nvSpPr>
        <p:spPr>
          <a:xfrm>
            <a:off x="5486400" y="1572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Marķēts</a:t>
            </a:r>
            <a:endParaRPr lang="en-US" sz="1700" dirty="0"/>
          </a:p>
        </p:txBody>
      </p:sp>
      <p:sp>
        <p:nvSpPr>
          <p:cNvPr id="7" name="teksts-96"/>
          <p:cNvSpPr txBox="1"/>
          <p:nvPr/>
        </p:nvSpPr>
        <p:spPr>
          <a:xfrm>
            <a:off x="5486400" y="19385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«Ģenerēts ar MI, pārbaudiet pirms lietošanas» + avots: Claude vai imitācija</a:t>
            </a:r>
            <a:endParaRPr lang="en-US" sz="1400" dirty="0"/>
          </a:p>
        </p:txBody>
      </p:sp>
      <p:sp>
        <p:nvSpPr>
          <p:cNvPr id="8" name="karte-97"/>
          <p:cNvSpPr/>
          <p:nvPr/>
        </p:nvSpPr>
        <p:spPr>
          <a:xfrm>
            <a:off x="5212080" y="2651760"/>
            <a:ext cx="6400800" cy="1024128"/>
          </a:xfrm>
          <a:prstGeom prst="roundRect">
            <a:avLst>
              <a:gd name="adj" fmla="val 10714"/>
            </a:avLst>
          </a:prstGeom>
          <a:solidFill>
            <a:srgbClr val="F3EDFA"/>
          </a:solidFill>
          <a:ln/>
        </p:spPr>
      </p:sp>
      <p:sp>
        <p:nvSpPr>
          <p:cNvPr id="9" name="teksts-98"/>
          <p:cNvSpPr txBox="1"/>
          <p:nvPr/>
        </p:nvSpPr>
        <p:spPr>
          <a:xfrm>
            <a:off x="5486400" y="2761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Nekad nenosūta</a:t>
            </a:r>
            <a:endParaRPr lang="en-US" sz="1700" dirty="0"/>
          </a:p>
        </p:txBody>
      </p:sp>
      <p:sp>
        <p:nvSpPr>
          <p:cNvPr id="10" name="teksts-99"/>
          <p:cNvSpPr txBox="1"/>
          <p:nvPr/>
        </p:nvSpPr>
        <p:spPr>
          <a:xfrm>
            <a:off x="5486400" y="3127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«Izmantot projektu» tikai ieliek tekstu laukā; statuss un tēma nemainās</a:t>
            </a:r>
            <a:endParaRPr lang="en-US" sz="1400" dirty="0"/>
          </a:p>
        </p:txBody>
      </p:sp>
      <p:sp>
        <p:nvSpPr>
          <p:cNvPr id="11" name="karte-100"/>
          <p:cNvSpPr/>
          <p:nvPr/>
        </p:nvSpPr>
        <p:spPr>
          <a:xfrm>
            <a:off x="5212080" y="3840480"/>
            <a:ext cx="6400800" cy="1024128"/>
          </a:xfrm>
          <a:prstGeom prst="roundRect">
            <a:avLst>
              <a:gd name="adj" fmla="val 10714"/>
            </a:avLst>
          </a:prstGeom>
          <a:solidFill>
            <a:srgbClr val="F3EDFA"/>
          </a:solidFill>
          <a:ln/>
        </p:spPr>
      </p:sp>
      <p:sp>
        <p:nvSpPr>
          <p:cNvPr id="12" name="teksts-101"/>
          <p:cNvSpPr txBox="1"/>
          <p:nvPr/>
        </p:nvSpPr>
        <p:spPr>
          <a:xfrm>
            <a:off x="5486400" y="3950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Žurnālā</a:t>
            </a:r>
            <a:endParaRPr lang="en-US" sz="1700" dirty="0"/>
          </a:p>
        </p:txBody>
      </p:sp>
      <p:sp>
        <p:nvSpPr>
          <p:cNvPr id="13" name="teksts-102"/>
          <p:cNvSpPr txBox="1"/>
          <p:nvPr/>
        </p:nvSpPr>
        <p:spPr>
          <a:xfrm>
            <a:off x="5486400" y="4315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notikumi: «MI ieteikums izmantots», «Tēma mainīta pēc MI ieteikuma»</a:t>
            </a:r>
            <a:endParaRPr lang="en-US" sz="1400" dirty="0"/>
          </a:p>
        </p:txBody>
      </p:sp>
      <p:sp>
        <p:nvSpPr>
          <p:cNvPr id="14" name="karte-103"/>
          <p:cNvSpPr/>
          <p:nvPr/>
        </p:nvSpPr>
        <p:spPr>
          <a:xfrm>
            <a:off x="5212080" y="5029200"/>
            <a:ext cx="6400800" cy="1024128"/>
          </a:xfrm>
          <a:prstGeom prst="roundRect">
            <a:avLst>
              <a:gd name="adj" fmla="val 10714"/>
            </a:avLst>
          </a:prstGeom>
          <a:solidFill>
            <a:srgbClr val="F3EDFA"/>
          </a:solidFill>
          <a:ln/>
        </p:spPr>
      </p:sp>
      <p:sp>
        <p:nvSpPr>
          <p:cNvPr id="15" name="teksts-104"/>
          <p:cNvSpPr txBox="1"/>
          <p:nvPr/>
        </p:nvSpPr>
        <p:spPr>
          <a:xfrm>
            <a:off x="5486400" y="5138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Bez tīkla pēc noklusējuma</a:t>
            </a:r>
            <a:endParaRPr lang="en-US" sz="1700" dirty="0"/>
          </a:p>
        </p:txBody>
      </p:sp>
      <p:sp>
        <p:nvSpPr>
          <p:cNvPr id="16" name="teksts-105"/>
          <p:cNvSpPr txBox="1"/>
          <p:nvPr/>
        </p:nvSpPr>
        <p:spPr>
          <a:xfrm>
            <a:off x="5486400" y="55046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Atslēgvārdu imitācija; Claude API tikai ar ANTHROPIC_API_KEY, tas pats līgums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Vadītājs: diagramma un tie paši dati tabulā</a:t>
            </a:r>
            <a:endParaRPr lang="en-US" sz="3400" dirty="0"/>
          </a:p>
        </p:txBody>
      </p:sp>
      <p:sp>
        <p:nvSpPr>
          <p:cNvPr id="3" name="ramis-106"/>
          <p:cNvSpPr/>
          <p:nvPr/>
        </p:nvSpPr>
        <p:spPr>
          <a:xfrm>
            <a:off x="548640" y="1371600"/>
            <a:ext cx="5257800" cy="4506329"/>
          </a:xfrm>
          <a:prstGeom prst="roundRect">
            <a:avLst>
              <a:gd name="adj" fmla="val 1623"/>
            </a:avLst>
          </a:prstGeom>
          <a:solidFill>
            <a:srgbClr val="D7E3E7"/>
          </a:solidFill>
          <a:ln/>
        </p:spPr>
      </p:sp>
      <p:pic>
        <p:nvPicPr>
          <p:cNvPr id="4" name="attels-107" descr="Pārskats vadītājam ar tabulām un joslu diagramm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166360" cy="4414889"/>
          </a:xfrm>
          <a:prstGeom prst="rect">
            <a:avLst/>
          </a:prstGeom>
        </p:spPr>
      </p:pic>
      <p:sp>
        <p:nvSpPr>
          <p:cNvPr id="5" name="teksts-108"/>
          <p:cNvSpPr txBox="1"/>
          <p:nvPr/>
        </p:nvSpPr>
        <p:spPr>
          <a:xfrm>
            <a:off x="6309360" y="1463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</a:t>
            </a:r>
            <a:endParaRPr lang="en-US" sz="6000" dirty="0"/>
          </a:p>
        </p:txBody>
      </p:sp>
      <p:sp>
        <p:nvSpPr>
          <p:cNvPr id="6" name="teksts-109"/>
          <p:cNvSpPr txBox="1"/>
          <p:nvPr/>
        </p:nvSpPr>
        <p:spPr>
          <a:xfrm>
            <a:off x="6309360" y="2514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dienas — vidējais apstrādes laiks (5 slēgti testa iesniegumi)</a:t>
            </a:r>
            <a:endParaRPr lang="en-US" sz="1500" dirty="0"/>
          </a:p>
        </p:txBody>
      </p:sp>
      <p:sp>
        <p:nvSpPr>
          <p:cNvPr id="7" name="saraksts-110"/>
          <p:cNvSpPr txBox="1"/>
          <p:nvPr/>
        </p:nvSpPr>
        <p:spPr>
          <a:xfrm>
            <a:off x="6309360" y="32918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Tabulas pa statusiem un tēmām (caption, th scope)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SVG diagramma bez JS: title + desc, skaitļi pie joslām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Joslu krāsa #0b7fa3 pārbaudīta: kontrasts ≥ 3:1 pret fonu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Diagramma nav vienīgais avots — tabula blakus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Pieejams tikai vadītājam (citiem 403)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neatrada neko — protokols atrada 4</a:t>
            </a:r>
            <a:endParaRPr lang="en-US" sz="3400" dirty="0"/>
          </a:p>
        </p:txBody>
      </p:sp>
      <p:sp>
        <p:nvSpPr>
          <p:cNvPr id="3" name="karte-111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ksts-112"/>
          <p:cNvSpPr txBox="1"/>
          <p:nvPr/>
        </p:nvSpPr>
        <p:spPr>
          <a:xfrm>
            <a:off x="77724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5" name="teksts-113"/>
          <p:cNvSpPr txBox="1"/>
          <p:nvPr/>
        </p:nvSpPr>
        <p:spPr>
          <a:xfrm>
            <a:off x="77724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axe-core 4.12 pārkāpumu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WCAG 2.2 AA, 14 lapās</a:t>
            </a:r>
            <a:endParaRPr lang="en-US" sz="1400" dirty="0"/>
          </a:p>
        </p:txBody>
      </p:sp>
      <p:sp>
        <p:nvSpPr>
          <p:cNvPr id="6" name="karte-114"/>
          <p:cNvSpPr/>
          <p:nvPr/>
        </p:nvSpPr>
        <p:spPr>
          <a:xfrm>
            <a:off x="338328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teksts-115"/>
          <p:cNvSpPr txBox="1"/>
          <p:nvPr/>
        </p:nvSpPr>
        <p:spPr>
          <a:xfrm>
            <a:off x="361188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800" dirty="0"/>
          </a:p>
        </p:txBody>
      </p:sp>
      <p:sp>
        <p:nvSpPr>
          <p:cNvPr id="8" name="teksts-116"/>
          <p:cNvSpPr txBox="1"/>
          <p:nvPr/>
        </p:nvSpPr>
        <p:spPr>
          <a:xfrm>
            <a:off x="361188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tastatūras ceļa soļi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sākums → iesniegt → statuss</a:t>
            </a:r>
            <a:endParaRPr lang="en-US" sz="1400" dirty="0"/>
          </a:p>
        </p:txBody>
      </p:sp>
      <p:sp>
        <p:nvSpPr>
          <p:cNvPr id="9" name="karte-117"/>
          <p:cNvSpPr/>
          <p:nvPr/>
        </p:nvSpPr>
        <p:spPr>
          <a:xfrm>
            <a:off x="621792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teksts-118"/>
          <p:cNvSpPr txBox="1"/>
          <p:nvPr/>
        </p:nvSpPr>
        <p:spPr>
          <a:xfrm>
            <a:off x="644652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ksts-119"/>
          <p:cNvSpPr txBox="1"/>
          <p:nvPr/>
        </p:nvSpPr>
        <p:spPr>
          <a:xfrm>
            <a:off x="64465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lapas ar ritināšanu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320 px un 200 %</a:t>
            </a:r>
            <a:endParaRPr lang="en-US" sz="1400" dirty="0"/>
          </a:p>
        </p:txBody>
      </p:sp>
      <p:sp>
        <p:nvSpPr>
          <p:cNvPr id="12" name="karte-120"/>
          <p:cNvSpPr/>
          <p:nvPr/>
        </p:nvSpPr>
        <p:spPr>
          <a:xfrm>
            <a:off x="905256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teksts-121"/>
          <p:cNvSpPr txBox="1"/>
          <p:nvPr/>
        </p:nvSpPr>
        <p:spPr>
          <a:xfrm>
            <a:off x="928116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ksts-122"/>
          <p:cNvSpPr txBox="1"/>
          <p:nvPr/>
        </p:nvSpPr>
        <p:spPr>
          <a:xfrm>
            <a:off x="928116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problēmas atrastas 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protokola pārbaudēm</a:t>
            </a:r>
            <a:endParaRPr lang="en-US" sz="1400" dirty="0"/>
          </a:p>
        </p:txBody>
      </p:sp>
      <p:sp>
        <p:nvSpPr>
          <p:cNvPr id="15" name="teksts-123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Kāpēc tā?</a:t>
            </a:r>
            <a:endParaRPr lang="en-US" sz="2000" dirty="0"/>
          </a:p>
        </p:txBody>
      </p:sp>
      <p:sp>
        <p:nvSpPr>
          <p:cNvPr id="16" name="saraksts-124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Automātiskie rīki pārbauda tikai daļu prasību (tipiski 30–50 %) — tieši kā brīdina kursa materiāls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tests/a11y_protokols.py pārbauda to, ko «redz» ekrānlasītājs: lapu nosaukumus, virsrakstus, orientierus, lauku nosaukumus, mērķu izmēru, paziņojumus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Ekrānlasītāja tests (NVDA) joprojām jāveic cilvēkam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Atradumi un labojumi</a:t>
            </a:r>
            <a:endParaRPr lang="en-US" sz="3400" dirty="0"/>
          </a:p>
        </p:txBody>
      </p:sp>
      <p:graphicFrame>
        <p:nvGraphicFramePr>
          <p:cNvPr id="12" name="tabula-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760720"/>
                <a:gridCol w="1280160"/>
                <a:gridCol w="34747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Problēma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WCAG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Stāvoklis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Piekrišanas rūtiņa 20×20 px, saite 22 px augsta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2.5.8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Labots → 24 px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Pēc statusa maiņas paziņojumu ekrānlasītājs, visticamāk, nenolasa; fokuss uz body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4.1.3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Labots: nosaukumā + fokuss · NVDA jāapstiprina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Dublēti lapu nosaukumi («Iesniegumi · Iesniegumi»)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2.4.2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Labots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Teksts uz fotogrāfijas: axe nevar izmērīt kontrastu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1.4.3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Labots: aprēķināts ≥ 4,8:1 · pipete jāpārbauda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Ekrānlasītāja tests nav veikts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1.3.1, 4.1.x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Paliek paziņojumā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ksts-126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Paziņojums /pieklustamiba: «Daļēji atbilst» — godīgi, jo NVDA tests nav veikts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riska klasifikācija — pirms būvēšanas</a:t>
            </a:r>
            <a:endParaRPr lang="en-US" sz="3400" dirty="0"/>
          </a:p>
        </p:txBody>
      </p:sp>
      <p:sp>
        <p:nvSpPr>
          <p:cNvPr id="3" name="karte-127"/>
          <p:cNvSpPr/>
          <p:nvPr/>
        </p:nvSpPr>
        <p:spPr>
          <a:xfrm>
            <a:off x="548640" y="1463040"/>
            <a:ext cx="3474720" cy="4617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ksts-128"/>
          <p:cNvSpPr txBox="1"/>
          <p:nvPr/>
        </p:nvSpPr>
        <p:spPr>
          <a:xfrm>
            <a:off x="82296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US-7</a:t>
            </a:r>
            <a:endParaRPr lang="en-US" sz="1600" dirty="0"/>
          </a:p>
        </p:txBody>
      </p:sp>
      <p:sp>
        <p:nvSpPr>
          <p:cNvPr id="5" name="teksts-129"/>
          <p:cNvSpPr txBox="1"/>
          <p:nvPr/>
        </p:nvSpPr>
        <p:spPr>
          <a:xfrm>
            <a:off x="82296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 ieteikums darbiniekam</a:t>
            </a:r>
            <a:endParaRPr lang="en-US" sz="1700" dirty="0"/>
          </a:p>
        </p:txBody>
      </p:sp>
      <p:sp>
        <p:nvSpPr>
          <p:cNvPr id="6" name="klase-130"/>
          <p:cNvSpPr/>
          <p:nvPr/>
        </p:nvSpPr>
        <p:spPr>
          <a:xfrm>
            <a:off x="822960" y="288036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7" name="teksts-131"/>
          <p:cNvSpPr txBox="1"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MINIMĀLS</a:t>
            </a:r>
            <a:endParaRPr lang="en-US" sz="1500" dirty="0"/>
          </a:p>
        </p:txBody>
      </p:sp>
      <p:sp>
        <p:nvSpPr>
          <p:cNvPr id="8" name="teksts-132"/>
          <p:cNvSpPr txBox="1"/>
          <p:nvPr/>
        </p:nvSpPr>
        <p:spPr>
          <a:xfrm>
            <a:off x="822960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Tēma + atbildes projekts; cilvēks rediģē un apstiprina; nav III pielikumā</a:t>
            </a:r>
            <a:endParaRPr lang="en-US" sz="1400" dirty="0"/>
          </a:p>
        </p:txBody>
      </p:sp>
      <p:sp>
        <p:nvSpPr>
          <p:cNvPr id="9" name="teksts-133"/>
          <p:cNvSpPr txBox="1"/>
          <p:nvPr/>
        </p:nvSpPr>
        <p:spPr>
          <a:xfrm>
            <a:off x="82296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Būvēts ar marķējumu un žurnālu</a:t>
            </a:r>
            <a:endParaRPr lang="en-US" sz="1500" dirty="0"/>
          </a:p>
        </p:txBody>
      </p:sp>
      <p:sp>
        <p:nvSpPr>
          <p:cNvPr id="10" name="karte-134"/>
          <p:cNvSpPr/>
          <p:nvPr/>
        </p:nvSpPr>
        <p:spPr>
          <a:xfrm>
            <a:off x="4297680" y="1463040"/>
            <a:ext cx="3474720" cy="4617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ksts-135"/>
          <p:cNvSpPr txBox="1"/>
          <p:nvPr/>
        </p:nvSpPr>
        <p:spPr>
          <a:xfrm>
            <a:off x="45720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US-10</a:t>
            </a:r>
            <a:endParaRPr lang="en-US" sz="1600" dirty="0"/>
          </a:p>
        </p:txBody>
      </p:sp>
      <p:sp>
        <p:nvSpPr>
          <p:cNvPr id="12" name="teksts-136"/>
          <p:cNvSpPr txBox="1"/>
          <p:nvPr/>
        </p:nvSpPr>
        <p:spPr>
          <a:xfrm>
            <a:off x="457200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Čata palīgs iedzīvotājam</a:t>
            </a:r>
            <a:endParaRPr lang="en-US" sz="1700" dirty="0"/>
          </a:p>
        </p:txBody>
      </p:sp>
      <p:sp>
        <p:nvSpPr>
          <p:cNvPr id="13" name="klase-137"/>
          <p:cNvSpPr/>
          <p:nvPr/>
        </p:nvSpPr>
        <p:spPr>
          <a:xfrm>
            <a:off x="4572000" y="288036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ksts-138"/>
          <p:cNvSpPr txBox="1"/>
          <p:nvPr/>
        </p:nvSpPr>
        <p:spPr>
          <a:xfrm>
            <a:off x="45720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IEROBEŽOTS</a:t>
            </a:r>
            <a:endParaRPr lang="en-US" sz="1500" dirty="0"/>
          </a:p>
        </p:txBody>
      </p:sp>
      <p:sp>
        <p:nvSpPr>
          <p:cNvPr id="15" name="teksts-139"/>
          <p:cNvSpPr txBox="1"/>
          <p:nvPr/>
        </p:nvSpPr>
        <p:spPr>
          <a:xfrm>
            <a:off x="4572000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50. p. 1. d.: jāinformē, ka sarunājas ar MI; risks — nepareiza juridiska informācija</a:t>
            </a:r>
            <a:endParaRPr lang="en-US" sz="1400" dirty="0"/>
          </a:p>
        </p:txBody>
      </p:sp>
      <p:sp>
        <p:nvSpPr>
          <p:cNvPr id="16" name="teksts-140"/>
          <p:cNvSpPr txBox="1"/>
          <p:nvPr/>
        </p:nvSpPr>
        <p:spPr>
          <a:xfrm>
            <a:off x="457200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Nebūvēts (COULD); pasākumi aprakstīti</a:t>
            </a:r>
            <a:endParaRPr lang="en-US" sz="1500" dirty="0"/>
          </a:p>
        </p:txBody>
      </p:sp>
      <p:sp>
        <p:nvSpPr>
          <p:cNvPr id="17" name="karte-141"/>
          <p:cNvSpPr/>
          <p:nvPr/>
        </p:nvSpPr>
        <p:spPr>
          <a:xfrm>
            <a:off x="8046720" y="1463040"/>
            <a:ext cx="3474720" cy="4617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8" name="teksts-142"/>
          <p:cNvSpPr txBox="1"/>
          <p:nvPr/>
        </p:nvSpPr>
        <p:spPr>
          <a:xfrm>
            <a:off x="832104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US-15</a:t>
            </a:r>
            <a:endParaRPr lang="en-US" sz="1600" dirty="0"/>
          </a:p>
        </p:txBody>
      </p:sp>
      <p:sp>
        <p:nvSpPr>
          <p:cNvPr id="19" name="teksts-143"/>
          <p:cNvSpPr txBox="1"/>
          <p:nvPr/>
        </p:nvSpPr>
        <p:spPr>
          <a:xfrm>
            <a:off x="832104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Prioritātes vērtējums sociālajai palīdzībai</a:t>
            </a:r>
            <a:endParaRPr lang="en-US" sz="1700" dirty="0"/>
          </a:p>
        </p:txBody>
      </p:sp>
      <p:sp>
        <p:nvSpPr>
          <p:cNvPr id="20" name="klase-144"/>
          <p:cNvSpPr/>
          <p:nvPr/>
        </p:nvSpPr>
        <p:spPr>
          <a:xfrm>
            <a:off x="8321040" y="288036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1" name="teksts-145"/>
          <p:cNvSpPr txBox="1"/>
          <p:nvPr/>
        </p:nvSpPr>
        <p:spPr>
          <a:xfrm>
            <a:off x="83210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AUGSTS</a:t>
            </a:r>
            <a:endParaRPr lang="en-US" sz="1500" dirty="0"/>
          </a:p>
        </p:txBody>
      </p:sp>
      <p:sp>
        <p:nvSpPr>
          <p:cNvPr id="22" name="teksts-146"/>
          <p:cNvSpPr txBox="1"/>
          <p:nvPr/>
        </p:nvSpPr>
        <p:spPr>
          <a:xfrm>
            <a:off x="8321040" y="35204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III pielikums 5.a + profilēšana → 6. p. 3. d. izņēmums neder; FRIA, 26., 27., 49., 86. p.</a:t>
            </a:r>
            <a:endParaRPr lang="en-US" sz="1400" dirty="0"/>
          </a:p>
        </p:txBody>
      </p:sp>
      <p:sp>
        <p:nvSpPr>
          <p:cNvPr id="23" name="teksts-147"/>
          <p:cNvSpPr txBox="1"/>
          <p:nvPr/>
        </p:nvSpPr>
        <p:spPr>
          <a:xfrm>
            <a:off x="832104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NEBŪVĒT — alternatīva bez MI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«grūti» iesniegumi: viena bīstama kļūda</a:t>
            </a:r>
            <a:endParaRPr lang="en-US" sz="3400" dirty="0"/>
          </a:p>
        </p:txBody>
      </p:sp>
      <p:graphicFrame>
        <p:nvGraphicFramePr>
          <p:cNvPr id="14" name="tabula-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926080"/>
                <a:gridCol w="4572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Gadījums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Imitācija ieteica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Divdomīgs: «pie bērnudārza tumšs, nedeg lampa»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Ielu apgaismojums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Divas problēmas: bedre + konteiners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Atkritumi (bedre pazūd)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Sarkasms: «ielā tagad ir 'ezers'»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Ceļi un bedres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Bez atslēgvārdiem: skaļa mūzika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Cits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«Zaudēju darbu… bērnudārzu… pabalsts?»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Bērnudārza rinda — pareizi: Sociālā palīdzība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karte-149"/>
          <p:cNvSpPr/>
          <p:nvPr/>
        </p:nvSpPr>
        <p:spPr>
          <a:xfrm>
            <a:off x="7863840" y="146304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F3EDFA"/>
          </a:solidFill>
          <a:ln/>
        </p:spPr>
      </p:sp>
      <p:sp>
        <p:nvSpPr>
          <p:cNvPr id="5" name="teksts-150"/>
          <p:cNvSpPr txBox="1"/>
          <p:nvPr/>
        </p:nvSpPr>
        <p:spPr>
          <a:xfrm>
            <a:off x="81381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Dizaina lēmums</a:t>
            </a:r>
            <a:endParaRPr lang="en-US" sz="2000" dirty="0"/>
          </a:p>
        </p:txBody>
      </p:sp>
      <p:sp>
        <p:nvSpPr>
          <p:cNvPr id="6" name="saraksts-151"/>
          <p:cNvSpPr txBox="1"/>
          <p:nvPr/>
        </p:nvSpPr>
        <p:spPr>
          <a:xfrm>
            <a:off x="8138160" y="224028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Tēma nekad netiek mainīta automātiski — tikai ar atsevišķu pogu un ierakstu žurnālā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Cilvēks krīzē citādi nonāktu nepareizā rindā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Jautājums juristam: vai sociālajai palīdzībai MI ieteikumu nerādīt vispār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7262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Secinājumi par procesu</a:t>
            </a:r>
            <a:endParaRPr lang="en-US" sz="3400" dirty="0"/>
          </a:p>
        </p:txBody>
      </p:sp>
      <p:sp>
        <p:nvSpPr>
          <p:cNvPr id="3" name="secinajums-15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76A82"/>
          </a:solidFill>
          <a:ln/>
        </p:spPr>
      </p:sp>
      <p:sp>
        <p:nvSpPr>
          <p:cNvPr id="4" name="teksts-153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Prasības pirms koda</a:t>
            </a:r>
            <a:endParaRPr lang="en-US" sz="2000" dirty="0"/>
          </a:p>
        </p:txBody>
      </p:sp>
      <p:sp>
        <p:nvSpPr>
          <p:cNvPr id="5" name="teksts-154"/>
          <p:cNvSpPr txBox="1"/>
          <p:nvPr/>
        </p:nvSpPr>
        <p:spPr>
          <a:xfrm>
            <a:off x="82296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Kritēriji ar WCAG numuriem kļuva tieši par testiem — «gatavs» ir pārbaudāms</a:t>
            </a:r>
            <a:endParaRPr lang="en-US" sz="1500" dirty="0"/>
          </a:p>
        </p:txBody>
      </p:sp>
      <p:sp>
        <p:nvSpPr>
          <p:cNvPr id="6" name="secinajums-155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76A82"/>
          </a:solidFill>
          <a:ln/>
        </p:spPr>
      </p:sp>
      <p:sp>
        <p:nvSpPr>
          <p:cNvPr id="7" name="teksts-156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Klasificē pirms būvē</a:t>
            </a:r>
            <a:endParaRPr lang="en-US" sz="2000" dirty="0"/>
          </a:p>
        </p:txBody>
      </p:sp>
      <p:sp>
        <p:nvSpPr>
          <p:cNvPr id="8" name="teksts-157"/>
          <p:cNvSpPr txBox="1"/>
          <p:nvPr/>
        </p:nvSpPr>
        <p:spPr>
          <a:xfrm>
            <a:off x="649224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US-15 apturēts dizaina fāzē; US-7 pasākumi iestrādāti jau pirmajā versijā</a:t>
            </a:r>
            <a:endParaRPr lang="en-US" sz="1500" dirty="0"/>
          </a:p>
        </p:txBody>
      </p:sp>
      <p:sp>
        <p:nvSpPr>
          <p:cNvPr id="9" name="secinajums-158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76A82"/>
          </a:solidFill>
          <a:ln/>
        </p:spPr>
      </p:sp>
      <p:sp>
        <p:nvSpPr>
          <p:cNvPr id="10" name="teksts-159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Zaļš axe ≠ piekļūstams</a:t>
            </a:r>
            <a:endParaRPr lang="en-US" sz="2000" dirty="0"/>
          </a:p>
        </p:txBody>
      </p:sp>
      <p:sp>
        <p:nvSpPr>
          <p:cNvPr id="11" name="teksts-160"/>
          <p:cNvSpPr txBox="1"/>
          <p:nvPr/>
        </p:nvSpPr>
        <p:spPr>
          <a:xfrm>
            <a:off x="822960" y="4206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Četras problēmas atrada tikai protokola pārbaudes; NVDA joprojām vajag cilvēku</a:t>
            </a:r>
            <a:endParaRPr lang="en-US" sz="1500" dirty="0"/>
          </a:p>
        </p:txBody>
      </p:sp>
      <p:sp>
        <p:nvSpPr>
          <p:cNvPr id="12" name="secinajums-161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76A82"/>
          </a:solidFill>
          <a:ln/>
        </p:spPr>
      </p:sp>
      <p:sp>
        <p:nvSpPr>
          <p:cNvPr id="13" name="teksts-162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Claude paātrina, cilvēks atbild</a:t>
            </a:r>
            <a:endParaRPr lang="en-US" sz="2000" dirty="0"/>
          </a:p>
        </p:txBody>
      </p:sp>
      <p:sp>
        <p:nvSpPr>
          <p:cNvPr id="14" name="teksts-163"/>
          <p:cNvSpPr txBox="1"/>
          <p:nvPr/>
        </p:nvSpPr>
        <p:spPr>
          <a:xfrm>
            <a:off x="6492240" y="4206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Kods, testi un atskaišu melnraksti — ātri; lēmumi, juridika, ekrānlasītājs — cilvēkam</a:t>
            </a:r>
            <a:endParaRPr lang="en-US" sz="1500" dirty="0"/>
          </a:p>
        </p:txBody>
      </p:sp>
      <p:sp>
        <p:nvSpPr>
          <p:cNvPr id="15" name="teksts-164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Nākamie soļi: NVDA tests · kontrasts ar pipeti · Claude API ar īstu atslēgu · jurista atzinums par US-7 un US-15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zermala">
  <a:themeElements>
    <a:clrScheme name="Ezermala">
      <a:dk1>
        <a:srgbClr val="17262E"/>
      </a:dk1>
      <a:lt1>
        <a:srgbClr val="FFFFFF"/>
      </a:lt1>
      <a:dk2>
        <a:srgbClr val="0A2F3E"/>
      </a:dk2>
      <a:lt2>
        <a:srgbClr val="E3F1F4"/>
      </a:lt2>
      <a:accent1>
        <a:srgbClr val="176A82"/>
      </a:accent1>
      <a:accent2>
        <a:srgbClr val="0B7FA3"/>
      </a:accent2>
      <a:accent3>
        <a:srgbClr val="5B3391"/>
      </a:accent3>
      <a:accent4>
        <a:srgbClr val="1D6647"/>
      </a:accent4>
      <a:accent5>
        <a:srgbClr val="A3281B"/>
      </a:accent5>
      <a:accent6>
        <a:srgbClr val="7A4300"/>
      </a:accent6>
      <a:hlink>
        <a:srgbClr val="176A82"/>
      </a:hlink>
      <a:folHlink>
        <a:srgbClr val="5B3391"/>
      </a:folHlink>
    </a:clrScheme>
    <a:fontScheme name="Ezerma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Ezermalas novada pasvaldiba (macibu projekts)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Iesniegumi: no backloga līdz pārbaudītai sistēmai</dc:title>
  <dc:subject>PptxGenJS Presentation</dc:subject>
  <dc:creator>Claude Code</dc:creator>
  <cp:lastModifiedBy>Claude Code</cp:lastModifiedBy>
  <cp:revision>1</cp:revision>
  <dcterms:created xsi:type="dcterms:W3CDTF">2026-10-14T10:15:55Z</dcterms:created>
  <dcterms:modified xsi:type="dcterms:W3CDTF">2026-10-14T10:15:55Z</dcterms:modified>
</cp:coreProperties>
</file>